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D6E2"/>
                </a:solidFill>
                <a:latin typeface="Calibri"/>
              </a:rPr>
              <a:t>MASTER OF TECHNOLOGY — COMPUTER SCIENCE &amp; ENGINEERING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822960"/>
            <a:ext cx="11457432" cy="228600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822960"/>
            <a:ext cx="109728" cy="228600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91440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Calibri"/>
              </a:rPr>
              <a:t>Natural Disaster Prediction Engine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3736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00C8FF"/>
                </a:solidFill>
                <a:latin typeface="Calibri"/>
              </a:rPr>
              <a:t>An End-to-End Autonomous, Physics-Grounded Geospatial AI Platform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6E2"/>
                </a:solidFill>
                <a:latin typeface="Calibri"/>
              </a:rPr>
              <a:t>for Flood &amp; Landslide Susceptibility Mapping, Real-Time Dynamic Risk Prediction,
and Satellite-Based Crop Intelligence — Orchestrated by a 5-Agent AI Pipeline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3017520"/>
            <a:ext cx="3474720" cy="310896"/>
          </a:xfrm>
          <a:prstGeom prst="roundRect">
            <a:avLst>
              <a:gd name="adj" fmla="val 8000"/>
            </a:avLst>
          </a:prstGeom>
          <a:solidFill>
            <a:srgbClr val="1E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3054096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● Geospatial AI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3017520"/>
            <a:ext cx="3474720" cy="310896"/>
          </a:xfrm>
          <a:prstGeom prst="roundRect">
            <a:avLst>
              <a:gd name="adj" fmla="val 8000"/>
            </a:avLst>
          </a:prstGeom>
          <a:solidFill>
            <a:srgbClr val="1E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44568" y="3054096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● AHP Susceptibility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3401568"/>
            <a:ext cx="3474720" cy="310896"/>
          </a:xfrm>
          <a:prstGeom prst="roundRect">
            <a:avLst>
              <a:gd name="adj" fmla="val 8000"/>
            </a:avLst>
          </a:prstGeom>
          <a:solidFill>
            <a:srgbClr val="1E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4088" y="3438144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● TOPMODEL Physics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34840" y="3401568"/>
            <a:ext cx="3474720" cy="310896"/>
          </a:xfrm>
          <a:prstGeom prst="roundRect">
            <a:avLst>
              <a:gd name="adj" fmla="val 8000"/>
            </a:avLst>
          </a:prstGeom>
          <a:solidFill>
            <a:srgbClr val="1E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44568" y="3438144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● 5-Agent Autonomous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3785616"/>
            <a:ext cx="3474720" cy="310896"/>
          </a:xfrm>
          <a:prstGeom prst="roundRect">
            <a:avLst>
              <a:gd name="adj" fmla="val 8000"/>
            </a:avLst>
          </a:prstGeom>
          <a:solidFill>
            <a:srgbClr val="1E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4088" y="3822192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● Satellite Crop Intelligence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34840" y="3785616"/>
            <a:ext cx="3474720" cy="310896"/>
          </a:xfrm>
          <a:prstGeom prst="roundRect">
            <a:avLst>
              <a:gd name="adj" fmla="val 8000"/>
            </a:avLst>
          </a:prstGeom>
          <a:solidFill>
            <a:srgbClr val="1E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44568" y="3822192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● PostGIS Spatial DB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38160" y="2926080"/>
            <a:ext cx="3657600" cy="3383280"/>
          </a:xfrm>
          <a:prstGeom prst="rect">
            <a:avLst/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138160" y="2926080"/>
            <a:ext cx="3657600" cy="320040"/>
          </a:xfrm>
          <a:prstGeom prst="rect">
            <a:avLst/>
          </a:prstGeom>
          <a:solidFill>
            <a:srgbClr val="1E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0" y="2944368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Thesis Information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75320" y="3337560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8FF"/>
                </a:solidFill>
                <a:latin typeface="Calibri"/>
              </a:rPr>
              <a:t>Presented by: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38360" y="3337560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Candidate Name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75320" y="3749040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8FF"/>
                </a:solidFill>
                <a:latin typeface="Calibri"/>
              </a:rPr>
              <a:t>Roll No.: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38360" y="3749040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XXXXXXXX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75320" y="4160520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8FF"/>
                </a:solidFill>
                <a:latin typeface="Calibri"/>
              </a:rPr>
              <a:t>Supervisor: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38360" y="4160520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Prof. [Supervisor Name]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75320" y="4572000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8FF"/>
                </a:solidFill>
                <a:latin typeface="Calibri"/>
              </a:rPr>
              <a:t>Department: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38360" y="4572000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Computer Science &amp; Engg.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75320" y="4983480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8FF"/>
                </a:solidFill>
                <a:latin typeface="Calibri"/>
              </a:rPr>
              <a:t>Institute: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38360" y="4983480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Your University / Institute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75320" y="5394960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8FF"/>
                </a:solidFill>
                <a:latin typeface="Calibri"/>
              </a:rPr>
              <a:t>Academic Year: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38360" y="5394960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2025 – 2026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75320" y="5806440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8FF"/>
                </a:solidFill>
                <a:latin typeface="Calibri"/>
              </a:rPr>
              <a:t>Defense Date: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38360" y="5806440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May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4572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Table of 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C8FF"/>
                </a:solidFill>
                <a:latin typeface="Calibri"/>
              </a:rPr>
              <a:t>Thesis Defense Outline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836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2"/>
                </a:solidFill>
                <a:latin typeface="Calibri"/>
              </a:rPr>
              <a:t>Natural Disaster Prediction Engine | Thesis Defense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3796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CD6E2"/>
                </a:solidFill>
                <a:latin typeface="Calibri"/>
              </a:rPr>
              <a:t>Slide 2 / 17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188720"/>
            <a:ext cx="5394960" cy="384048"/>
          </a:xfrm>
          <a:prstGeom prst="roundRect">
            <a:avLst>
              <a:gd name="adj" fmla="val 8000"/>
            </a:avLst>
          </a:prstGeom>
          <a:solidFill>
            <a:srgbClr val="162A3E"/>
          </a:solidFill>
          <a:ln w="12700">
            <a:solidFill>
              <a:srgbClr val="1E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188720"/>
            <a:ext cx="457200" cy="384048"/>
          </a:xfrm>
          <a:prstGeom prst="rect">
            <a:avLst/>
          </a:prstGeom>
          <a:solidFill>
            <a:srgbClr val="1E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0624" y="1261872"/>
            <a:ext cx="3657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1216152"/>
            <a:ext cx="4800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8FF"/>
                </a:solidFill>
                <a:latin typeface="Calibri"/>
              </a:rPr>
              <a:t>Introduction &amp; Motivation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1408176"/>
            <a:ext cx="4800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CCD6E2"/>
                </a:solidFill>
                <a:latin typeface="Calibri"/>
              </a:rPr>
              <a:t>Problem statement, research gaps, objectives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1609344"/>
            <a:ext cx="5394960" cy="384048"/>
          </a:xfrm>
          <a:prstGeom prst="roundRect">
            <a:avLst>
              <a:gd name="adj" fmla="val 8000"/>
            </a:avLst>
          </a:prstGeom>
          <a:solidFill>
            <a:srgbClr val="162A3E"/>
          </a:solidFill>
          <a:ln w="12700">
            <a:solidFill>
              <a:srgbClr val="1E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5760" y="1609344"/>
            <a:ext cx="457200" cy="384048"/>
          </a:xfrm>
          <a:prstGeom prst="rect">
            <a:avLst/>
          </a:prstGeom>
          <a:solidFill>
            <a:srgbClr val="1E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0624" y="1682496"/>
            <a:ext cx="3657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1636776"/>
            <a:ext cx="4800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8FF"/>
                </a:solidFill>
                <a:latin typeface="Calibri"/>
              </a:rPr>
              <a:t>System Architecture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1828800"/>
            <a:ext cx="4800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CCD6E2"/>
                </a:solidFill>
                <a:latin typeface="Calibri"/>
              </a:rPr>
              <a:t>5-layer architecture, component roles, data flow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2029968"/>
            <a:ext cx="5394960" cy="384048"/>
          </a:xfrm>
          <a:prstGeom prst="roundRect">
            <a:avLst>
              <a:gd name="adj" fmla="val 8000"/>
            </a:avLst>
          </a:prstGeom>
          <a:solidFill>
            <a:srgbClr val="162A3E"/>
          </a:solidFill>
          <a:ln w="12700">
            <a:solidFill>
              <a:srgbClr val="1E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5760" y="2029968"/>
            <a:ext cx="457200" cy="384048"/>
          </a:xfrm>
          <a:prstGeom prst="rect">
            <a:avLst/>
          </a:prstGeom>
          <a:solidFill>
            <a:srgbClr val="1E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0624" y="2103120"/>
            <a:ext cx="3657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2057400"/>
            <a:ext cx="4800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8FF"/>
                </a:solidFill>
                <a:latin typeface="Calibri"/>
              </a:rPr>
              <a:t>Module A — AHP Susceptibility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2249424"/>
            <a:ext cx="4800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CCD6E2"/>
                </a:solidFill>
                <a:latin typeface="Calibri"/>
              </a:rPr>
              <a:t>Terrain-adaptive AHP, 12 terrain classes, FoS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5760" y="2450592"/>
            <a:ext cx="5394960" cy="384048"/>
          </a:xfrm>
          <a:prstGeom prst="roundRect">
            <a:avLst>
              <a:gd name="adj" fmla="val 8000"/>
            </a:avLst>
          </a:prstGeom>
          <a:solidFill>
            <a:srgbClr val="162A3E"/>
          </a:solidFill>
          <a:ln w="12700">
            <a:solidFill>
              <a:srgbClr val="1E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65760" y="2450592"/>
            <a:ext cx="457200" cy="384048"/>
          </a:xfrm>
          <a:prstGeom prst="rect">
            <a:avLst/>
          </a:prstGeom>
          <a:solidFill>
            <a:srgbClr val="1E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0624" y="2523744"/>
            <a:ext cx="3657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2478024"/>
            <a:ext cx="4800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8FF"/>
                </a:solidFill>
                <a:latin typeface="Calibri"/>
              </a:rPr>
              <a:t>Module B — ERA5 Weather Engine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2670048"/>
            <a:ext cx="4800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CCD6E2"/>
                </a:solidFill>
                <a:latin typeface="Calibri"/>
              </a:rPr>
              <a:t>API decay, CDSAPI integration, antecedent precip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65760" y="2871216"/>
            <a:ext cx="5394960" cy="384048"/>
          </a:xfrm>
          <a:prstGeom prst="roundRect">
            <a:avLst>
              <a:gd name="adj" fmla="val 8000"/>
            </a:avLst>
          </a:prstGeom>
          <a:solidFill>
            <a:srgbClr val="162A3E"/>
          </a:solidFill>
          <a:ln w="12700">
            <a:solidFill>
              <a:srgbClr val="1E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65760" y="2871216"/>
            <a:ext cx="457200" cy="384048"/>
          </a:xfrm>
          <a:prstGeom prst="rect">
            <a:avLst/>
          </a:prstGeom>
          <a:solidFill>
            <a:srgbClr val="1E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20624" y="2944368"/>
            <a:ext cx="3657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2898648"/>
            <a:ext cx="4800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8FF"/>
                </a:solidFill>
                <a:latin typeface="Calibri"/>
              </a:rPr>
              <a:t>Module C — Dynamic Risk Prediction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3090672"/>
            <a:ext cx="4800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CCD6E2"/>
                </a:solidFill>
                <a:latin typeface="Calibri"/>
              </a:rPr>
              <a:t>TOPMODEL + SCS-CN + AMC fusion engine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65760" y="3291840"/>
            <a:ext cx="5394960" cy="384048"/>
          </a:xfrm>
          <a:prstGeom prst="roundRect">
            <a:avLst>
              <a:gd name="adj" fmla="val 8000"/>
            </a:avLst>
          </a:prstGeom>
          <a:solidFill>
            <a:srgbClr val="162A3E"/>
          </a:solidFill>
          <a:ln w="12700">
            <a:solidFill>
              <a:srgbClr val="1E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65760" y="3291840"/>
            <a:ext cx="457200" cy="384048"/>
          </a:xfrm>
          <a:prstGeom prst="rect">
            <a:avLst/>
          </a:prstGeom>
          <a:solidFill>
            <a:srgbClr val="1E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20624" y="3364992"/>
            <a:ext cx="3657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" y="3319272"/>
            <a:ext cx="4800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8FF"/>
                </a:solidFill>
                <a:latin typeface="Calibri"/>
              </a:rPr>
              <a:t>Module D — AgriIntel v2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3511296"/>
            <a:ext cx="4800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CCD6E2"/>
                </a:solidFill>
                <a:latin typeface="Calibri"/>
              </a:rPr>
              <a:t>Satellite crop classification + yield forecast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126480" y="1188720"/>
            <a:ext cx="5394960" cy="384048"/>
          </a:xfrm>
          <a:prstGeom prst="roundRect">
            <a:avLst>
              <a:gd name="adj" fmla="val 8000"/>
            </a:avLst>
          </a:prstGeom>
          <a:solidFill>
            <a:srgbClr val="162A3E"/>
          </a:solidFill>
          <a:ln w="12700">
            <a:solidFill>
              <a:srgbClr val="1E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126480" y="1188720"/>
            <a:ext cx="457200" cy="384048"/>
          </a:xfrm>
          <a:prstGeom prst="rect">
            <a:avLst/>
          </a:prstGeom>
          <a:solidFill>
            <a:srgbClr val="1E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81344" y="1261872"/>
            <a:ext cx="3657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07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675120" y="1216152"/>
            <a:ext cx="4800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8FF"/>
                </a:solidFill>
                <a:latin typeface="Calibri"/>
              </a:rPr>
              <a:t>Agentic AI Pipeline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675120" y="1408176"/>
            <a:ext cx="4800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CCD6E2"/>
                </a:solidFill>
                <a:latin typeface="Calibri"/>
              </a:rPr>
              <a:t>5-agent autonomous orchestration via n8n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126480" y="1609344"/>
            <a:ext cx="5394960" cy="384048"/>
          </a:xfrm>
          <a:prstGeom prst="roundRect">
            <a:avLst>
              <a:gd name="adj" fmla="val 8000"/>
            </a:avLst>
          </a:prstGeom>
          <a:solidFill>
            <a:srgbClr val="162A3E"/>
          </a:solidFill>
          <a:ln w="12700">
            <a:solidFill>
              <a:srgbClr val="1E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126480" y="1609344"/>
            <a:ext cx="457200" cy="384048"/>
          </a:xfrm>
          <a:prstGeom prst="rect">
            <a:avLst/>
          </a:prstGeom>
          <a:solidFill>
            <a:srgbClr val="1E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181344" y="1682496"/>
            <a:ext cx="3657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08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675120" y="1636776"/>
            <a:ext cx="4800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8FF"/>
                </a:solidFill>
                <a:latin typeface="Calibri"/>
              </a:rPr>
              <a:t>Database &amp; API Design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675120" y="1828800"/>
            <a:ext cx="4800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CCD6E2"/>
                </a:solidFill>
                <a:latin typeface="Calibri"/>
              </a:rPr>
              <a:t>PostGIS schema, 12+ spatial tables, WebSocket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126480" y="2029968"/>
            <a:ext cx="5394960" cy="384048"/>
          </a:xfrm>
          <a:prstGeom prst="roundRect">
            <a:avLst>
              <a:gd name="adj" fmla="val 8000"/>
            </a:avLst>
          </a:prstGeom>
          <a:solidFill>
            <a:srgbClr val="162A3E"/>
          </a:solidFill>
          <a:ln w="12700">
            <a:solidFill>
              <a:srgbClr val="1E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126480" y="2029968"/>
            <a:ext cx="457200" cy="384048"/>
          </a:xfrm>
          <a:prstGeom prst="rect">
            <a:avLst/>
          </a:prstGeom>
          <a:solidFill>
            <a:srgbClr val="1E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181344" y="2103120"/>
            <a:ext cx="3657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09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675120" y="2057400"/>
            <a:ext cx="4800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8FF"/>
                </a:solidFill>
                <a:latin typeface="Calibri"/>
              </a:rPr>
              <a:t>Technology Stack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675120" y="2249424"/>
            <a:ext cx="4800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CCD6E2"/>
                </a:solidFill>
                <a:latin typeface="Calibri"/>
              </a:rPr>
              <a:t>Full stack overview: React, Node, FastAPI, Docker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126480" y="2450592"/>
            <a:ext cx="5394960" cy="384048"/>
          </a:xfrm>
          <a:prstGeom prst="roundRect">
            <a:avLst>
              <a:gd name="adj" fmla="val 8000"/>
            </a:avLst>
          </a:prstGeom>
          <a:solidFill>
            <a:srgbClr val="162A3E"/>
          </a:solidFill>
          <a:ln w="12700">
            <a:solidFill>
              <a:srgbClr val="1E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126480" y="2450592"/>
            <a:ext cx="457200" cy="384048"/>
          </a:xfrm>
          <a:prstGeom prst="rect">
            <a:avLst/>
          </a:prstGeom>
          <a:solidFill>
            <a:srgbClr val="1E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181344" y="2523744"/>
            <a:ext cx="3657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675120" y="2478024"/>
            <a:ext cx="4800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8FF"/>
                </a:solidFill>
                <a:latin typeface="Calibri"/>
              </a:rPr>
              <a:t>Data Sources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675120" y="2670048"/>
            <a:ext cx="4800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CCD6E2"/>
                </a:solidFill>
                <a:latin typeface="Calibri"/>
              </a:rPr>
              <a:t>Multi-source geospatial data integration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126480" y="2871216"/>
            <a:ext cx="5394960" cy="384048"/>
          </a:xfrm>
          <a:prstGeom prst="roundRect">
            <a:avLst>
              <a:gd name="adj" fmla="val 8000"/>
            </a:avLst>
          </a:prstGeom>
          <a:solidFill>
            <a:srgbClr val="162A3E"/>
          </a:solidFill>
          <a:ln w="12700">
            <a:solidFill>
              <a:srgbClr val="1E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6126480" y="2871216"/>
            <a:ext cx="457200" cy="384048"/>
          </a:xfrm>
          <a:prstGeom prst="rect">
            <a:avLst/>
          </a:prstGeom>
          <a:solidFill>
            <a:srgbClr val="1E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181344" y="2944368"/>
            <a:ext cx="3657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11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675120" y="2898648"/>
            <a:ext cx="4800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8FF"/>
                </a:solidFill>
                <a:latin typeface="Calibri"/>
              </a:rPr>
              <a:t>Results &amp; Performance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675120" y="3090672"/>
            <a:ext cx="4800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CCD6E2"/>
                </a:solidFill>
                <a:latin typeface="Calibri"/>
              </a:rPr>
              <a:t>Accuracy metrics, fault tolerance, benchmarks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6126480" y="3291840"/>
            <a:ext cx="5394960" cy="384048"/>
          </a:xfrm>
          <a:prstGeom prst="roundRect">
            <a:avLst>
              <a:gd name="adj" fmla="val 8000"/>
            </a:avLst>
          </a:prstGeom>
          <a:solidFill>
            <a:srgbClr val="162A3E"/>
          </a:solidFill>
          <a:ln w="12700">
            <a:solidFill>
              <a:srgbClr val="1E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126480" y="3291840"/>
            <a:ext cx="457200" cy="384048"/>
          </a:xfrm>
          <a:prstGeom prst="rect">
            <a:avLst/>
          </a:prstGeom>
          <a:solidFill>
            <a:srgbClr val="1E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181344" y="3364992"/>
            <a:ext cx="3657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12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675120" y="3319272"/>
            <a:ext cx="4800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8FF"/>
                </a:solidFill>
                <a:latin typeface="Calibri"/>
              </a:rPr>
              <a:t>Conclusions &amp; Future Work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675120" y="3511296"/>
            <a:ext cx="4800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CCD6E2"/>
                </a:solidFill>
                <a:latin typeface="Calibri"/>
              </a:rPr>
              <a:t>Contributions, limitations, research directions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4572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Introduction &amp; Motivation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C8FF"/>
                </a:solidFill>
                <a:latin typeface="Calibri"/>
              </a:rPr>
              <a:t>Problem Statement, Research Gap &amp; Objectives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836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2"/>
                </a:solidFill>
                <a:latin typeface="Calibri"/>
              </a:rPr>
              <a:t>Natural Disaster Prediction Engine | Thesis Defense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3796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CD6E2"/>
                </a:solidFill>
                <a:latin typeface="Calibri"/>
              </a:rPr>
              <a:t>Slide 3 / 17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1143000"/>
            <a:ext cx="5577840" cy="2560320"/>
          </a:xfrm>
          <a:prstGeom prst="roundRect">
            <a:avLst>
              <a:gd name="adj" fmla="val 8000"/>
            </a:avLst>
          </a:prstGeom>
          <a:solidFill>
            <a:srgbClr val="162A3E"/>
          </a:solidFill>
          <a:ln w="25400">
            <a:solidFill>
              <a:srgbClr val="E83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143000"/>
            <a:ext cx="5577840" cy="347472"/>
          </a:xfrm>
          <a:prstGeom prst="rect">
            <a:avLst/>
          </a:prstGeom>
          <a:solidFill>
            <a:srgbClr val="E8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1170432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⚠  Problem Statement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1572768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2"/>
                </a:solidFill>
                <a:latin typeface="Calibri"/>
              </a:rPr>
              <a:t>• India faces 40+ major floods and landslide events annually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1847088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2"/>
                </a:solidFill>
                <a:latin typeface="Calibri"/>
              </a:rPr>
              <a:t>• 60-80 million people displaced by floods every year (NDMA 2023)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2121408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2"/>
                </a:solidFill>
                <a:latin typeface="Calibri"/>
              </a:rPr>
              <a:t>• Existing EWS systems lack physics-based terrain-adaptive models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2395728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2"/>
                </a:solidFill>
                <a:latin typeface="Calibri"/>
              </a:rPr>
              <a:t>• No open-source platform integrates flood + landslide + crop risk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2670048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2"/>
                </a:solidFill>
                <a:latin typeface="Calibri"/>
              </a:rPr>
              <a:t>• Manual GIS processing takes weeks; no real-time autonomous system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2944368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2"/>
                </a:solidFill>
                <a:latin typeface="Calibri"/>
              </a:rPr>
              <a:t>• District-level precision missing from national alert systems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4320" y="3840480"/>
            <a:ext cx="5577840" cy="2560320"/>
          </a:xfrm>
          <a:prstGeom prst="roundRect">
            <a:avLst>
              <a:gd name="adj" fmla="val 8000"/>
            </a:avLst>
          </a:prstGeom>
          <a:solidFill>
            <a:srgbClr val="162A3E"/>
          </a:solidFill>
          <a:ln w="254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" y="3840480"/>
            <a:ext cx="5577840" cy="347472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" y="3867912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🔬  Research Gap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4279392"/>
            <a:ext cx="53949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2"/>
                </a:solidFill>
                <a:latin typeface="Calibri"/>
              </a:rPr>
              <a:t>• Static AHP models ignore terrain variability across India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4626864"/>
            <a:ext cx="53949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2"/>
                </a:solidFill>
                <a:latin typeface="Calibri"/>
              </a:rPr>
              <a:t>• No physics fusion: TOPMODEL + SCS-CN + FoS combined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" y="4974336"/>
            <a:ext cx="53949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2"/>
                </a:solidFill>
                <a:latin typeface="Calibri"/>
              </a:rPr>
              <a:t>• No autonomous pipeline — all existing tools need manual triggers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" y="5321808"/>
            <a:ext cx="53949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2"/>
                </a:solidFill>
                <a:latin typeface="Calibri"/>
              </a:rPr>
              <a:t>• Crop intelligence not integrated with disaster risk systems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5669280"/>
            <a:ext cx="53949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2"/>
                </a:solidFill>
                <a:latin typeface="Calibri"/>
              </a:rPr>
              <a:t>• Antecedent moisture (API decay) overlooked in real-time tools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035040" y="1143000"/>
            <a:ext cx="5852160" cy="5257800"/>
          </a:xfrm>
          <a:prstGeom prst="roundRect">
            <a:avLst>
              <a:gd name="adj" fmla="val 8000"/>
            </a:avLst>
          </a:prstGeom>
          <a:solidFill>
            <a:srgbClr val="162A3E"/>
          </a:solidFill>
          <a:ln w="25400">
            <a:solidFill>
              <a:srgbClr val="00C8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035040" y="1143000"/>
            <a:ext cx="5852160" cy="347472"/>
          </a:xfrm>
          <a:prstGeom prst="rect">
            <a:avLst/>
          </a:prstGeom>
          <a:solidFill>
            <a:srgbClr val="00C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72200" y="1170432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🎯  Research Objectives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72200" y="1572768"/>
            <a:ext cx="457200" cy="411480"/>
          </a:xfrm>
          <a:prstGeom prst="roundRect">
            <a:avLst>
              <a:gd name="adj" fmla="val 8000"/>
            </a:avLst>
          </a:prstGeom>
          <a:solidFill>
            <a:srgbClr val="1E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72200" y="162763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O1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20840" y="162763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2"/>
                </a:solidFill>
                <a:latin typeface="Calibri"/>
              </a:rPr>
              <a:t>Design terrain-adaptive AHP with 12 terrain-specific weight matrices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72200" y="2121408"/>
            <a:ext cx="457200" cy="411480"/>
          </a:xfrm>
          <a:prstGeom prst="roundRect">
            <a:avLst>
              <a:gd name="adj" fmla="val 8000"/>
            </a:avLst>
          </a:prstGeom>
          <a:solidFill>
            <a:srgbClr val="1E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72200" y="217627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O2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20840" y="217627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2"/>
                </a:solidFill>
                <a:latin typeface="Calibri"/>
              </a:rPr>
              <a:t>Develop physics-fusion engine: TOPMODEL + SCS-CN + Infinite-Slope FoS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172200" y="2670048"/>
            <a:ext cx="457200" cy="411480"/>
          </a:xfrm>
          <a:prstGeom prst="roundRect">
            <a:avLst>
              <a:gd name="adj" fmla="val 8000"/>
            </a:avLst>
          </a:prstGeom>
          <a:solidFill>
            <a:srgbClr val="1E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172200" y="272491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O3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20840" y="272491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2"/>
                </a:solidFill>
                <a:latin typeface="Calibri"/>
              </a:rPr>
              <a:t>Build 5-agent autonomous AI pipeline with zero human intervention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172200" y="3218688"/>
            <a:ext cx="457200" cy="411480"/>
          </a:xfrm>
          <a:prstGeom prst="roundRect">
            <a:avLst>
              <a:gd name="adj" fmla="val 8000"/>
            </a:avLst>
          </a:prstGeom>
          <a:solidFill>
            <a:srgbClr val="1E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72200" y="32735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O4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20840" y="327355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2"/>
                </a:solidFill>
                <a:latin typeface="Calibri"/>
              </a:rPr>
              <a:t>Create satellite-based crop intelligence with stage-wise risk scoring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172200" y="3767328"/>
            <a:ext cx="457200" cy="411480"/>
          </a:xfrm>
          <a:prstGeom prst="roundRect">
            <a:avLst>
              <a:gd name="adj" fmla="val 8000"/>
            </a:avLst>
          </a:prstGeom>
          <a:solidFill>
            <a:srgbClr val="1E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172200" y="382219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O5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720840" y="382219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2"/>
                </a:solidFill>
                <a:latin typeface="Calibri"/>
              </a:rPr>
              <a:t>Implement antecedent precipitation API decay (K=0.85) for soil moisture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172200" y="4315968"/>
            <a:ext cx="457200" cy="411480"/>
          </a:xfrm>
          <a:prstGeom prst="roundRect">
            <a:avLst>
              <a:gd name="adj" fmla="val 8000"/>
            </a:avLst>
          </a:prstGeom>
          <a:solidFill>
            <a:srgbClr val="1E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172200" y="437083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O6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720840" y="437083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2"/>
                </a:solidFill>
                <a:latin typeface="Calibri"/>
              </a:rPr>
              <a:t>Provide full 730-district India coverage with PostGIS spatial database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172200" y="4864608"/>
            <a:ext cx="457200" cy="411480"/>
          </a:xfrm>
          <a:prstGeom prst="roundRect">
            <a:avLst>
              <a:gd name="adj" fmla="val 8000"/>
            </a:avLst>
          </a:prstGeom>
          <a:solidFill>
            <a:srgbClr val="1E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172200" y="491947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O7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720840" y="491947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2"/>
                </a:solidFill>
                <a:latin typeface="Calibri"/>
              </a:rPr>
              <a:t>Real-time WebSocket dashboard with 6-hour update cycle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172200" y="5413248"/>
            <a:ext cx="457200" cy="411480"/>
          </a:xfrm>
          <a:prstGeom prst="roundRect">
            <a:avLst>
              <a:gd name="adj" fmla="val 8000"/>
            </a:avLst>
          </a:prstGeom>
          <a:solidFill>
            <a:srgbClr val="1E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172200" y="546811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O8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720840" y="546811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2"/>
                </a:solidFill>
                <a:latin typeface="Calibri"/>
              </a:rPr>
              <a:t>Open-source deployable platform via Docker Compose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4572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C8FF"/>
                </a:solidFill>
                <a:latin typeface="Calibri"/>
              </a:rPr>
              <a:t>5-Layer Stack with Data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836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2"/>
                </a:solidFill>
                <a:latin typeface="Calibri"/>
              </a:rPr>
              <a:t>Natural Disaster Prediction Engine | Thesis Defense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3796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CD6E2"/>
                </a:solidFill>
                <a:latin typeface="Calibri"/>
              </a:rPr>
              <a:t>Slide 4 / 17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97280"/>
            <a:ext cx="11795760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4572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Module A — AHP Susceptibility Mapping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C8FF"/>
                </a:solidFill>
                <a:latin typeface="Calibri"/>
              </a:rPr>
              <a:t>Terrain-Adaptive Multi-Criteria Spatial 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836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2"/>
                </a:solidFill>
                <a:latin typeface="Calibri"/>
              </a:rPr>
              <a:t>Natural Disaster Prediction Engine | Thesis Defense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3796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CD6E2"/>
                </a:solidFill>
                <a:latin typeface="Calibri"/>
              </a:rPr>
              <a:t>Slide 5 / 17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97280"/>
            <a:ext cx="1179576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4572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Module B — ERA5 Rainfall &amp; Weather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C8FF"/>
                </a:solidFill>
                <a:latin typeface="Calibri"/>
              </a:rPr>
              <a:t>Automated Weather Data Ingestion &amp; Antecedent Precipitation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836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2"/>
                </a:solidFill>
                <a:latin typeface="Calibri"/>
              </a:rPr>
              <a:t>Natural Disaster Prediction Engine | Thesis Defense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3796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CD6E2"/>
                </a:solidFill>
                <a:latin typeface="Calibri"/>
              </a:rPr>
              <a:t>Slide 6 / 17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1143000"/>
            <a:ext cx="5486400" cy="3383280"/>
          </a:xfrm>
          <a:prstGeom prst="roundRect">
            <a:avLst>
              <a:gd name="adj" fmla="val 8000"/>
            </a:avLst>
          </a:prstGeom>
          <a:solidFill>
            <a:srgbClr val="162A3E"/>
          </a:solidFill>
          <a:ln w="12700">
            <a:solidFill>
              <a:srgbClr val="1E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143000"/>
            <a:ext cx="5486400" cy="365760"/>
          </a:xfrm>
          <a:prstGeom prst="rect">
            <a:avLst/>
          </a:prstGeom>
          <a:solidFill>
            <a:srgbClr val="1E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117043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ERA5 Parameters Fetched via CDSAPI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160020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C8FF"/>
                </a:solidFill>
                <a:latin typeface="Calibri"/>
              </a:rPr>
              <a:t>ERA5 Variable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160020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C8FF"/>
                </a:solidFill>
                <a:latin typeface="Calibri"/>
              </a:rPr>
              <a:t>Unit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160020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C8FF"/>
                </a:solidFill>
                <a:latin typeface="Calibri"/>
              </a:rPr>
              <a:t>Parameter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160020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C8FF"/>
                </a:solidFill>
                <a:latin typeface="Calibri"/>
              </a:rPr>
              <a:t>Usage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1901952"/>
            <a:ext cx="5394960" cy="384048"/>
          </a:xfrm>
          <a:prstGeom prst="rect">
            <a:avLst/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1956816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total_precipitation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0" y="1956816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mm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1956816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Precipitation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80" y="1956816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Trigger scoring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2313432"/>
            <a:ext cx="5394960" cy="384048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2368296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volumetric_soil_water_l1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0" y="2368296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m³/m³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0" y="2368296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Soil Moisture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40480" y="2368296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AMC condition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2724912"/>
            <a:ext cx="5394960" cy="384048"/>
          </a:xfrm>
          <a:prstGeom prst="rect">
            <a:avLst/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79776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surface_runoff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11680" y="2779776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mm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43200" y="2779776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Surface Runoff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40480" y="2779776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SCS-CN input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3136392"/>
            <a:ext cx="5394960" cy="384048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3191256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2m_temperature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11680" y="3191256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43200" y="3191256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Temperature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840480" y="3191256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Crop risk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0040" y="3547872"/>
            <a:ext cx="5394960" cy="384048"/>
          </a:xfrm>
          <a:prstGeom prst="rect">
            <a:avLst/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5760" y="3602736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10m_u/v_component_of_wind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011680" y="3602736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m/s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743200" y="3602736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Wind Speed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840480" y="3602736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Evapotranspiration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20040" y="3959352"/>
            <a:ext cx="5394960" cy="384048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65760" y="4014216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potential_evaporation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011680" y="4014216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743200" y="4014216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Evaporation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840480" y="4014216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Soil budget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943600" y="1143000"/>
            <a:ext cx="5943600" cy="3383280"/>
          </a:xfrm>
          <a:prstGeom prst="roundRect">
            <a:avLst>
              <a:gd name="adj" fmla="val 8000"/>
            </a:avLst>
          </a:prstGeom>
          <a:solidFill>
            <a:srgbClr val="162A3E"/>
          </a:solidFill>
          <a:ln w="12700">
            <a:solidFill>
              <a:srgbClr val="00C8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943600" y="1143000"/>
            <a:ext cx="5943600" cy="365760"/>
          </a:xfrm>
          <a:prstGeom prst="rect">
            <a:avLst/>
          </a:prstGeom>
          <a:solidFill>
            <a:srgbClr val="00C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080760" y="1170432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Antecedent Precipitation Index (API) Decay Model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080760" y="1600200"/>
            <a:ext cx="5669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8FF"/>
                </a:solidFill>
                <a:latin typeface="Calibri"/>
              </a:rPr>
              <a:t>APIₙ = P₀ + K·P₁ + K²·P₂ + ... + Kⁿ·Pₙ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080760" y="1856232"/>
            <a:ext cx="5669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2"/>
                </a:solidFill>
                <a:latin typeface="Calibri"/>
              </a:rPr>
              <a:t/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080760" y="2112264"/>
            <a:ext cx="5669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F8C00"/>
                </a:solidFill>
                <a:latin typeface="Calibri"/>
              </a:rPr>
              <a:t>  where  K = 0.85  (Kohler &amp; Linsley, 1951)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080760" y="2368296"/>
            <a:ext cx="5669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2"/>
                </a:solidFill>
                <a:latin typeface="Calibri"/>
              </a:rPr>
              <a:t/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080760" y="2624328"/>
            <a:ext cx="5669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2"/>
                </a:solidFill>
                <a:latin typeface="Calibri"/>
              </a:rPr>
              <a:t>• P₀ = Today's rainfall (mm)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080760" y="2880360"/>
            <a:ext cx="5669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2"/>
                </a:solidFill>
                <a:latin typeface="Calibri"/>
              </a:rPr>
              <a:t>• Pₙ = Rainfall n days ago (mm)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080760" y="3136392"/>
            <a:ext cx="5669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2"/>
                </a:solidFill>
                <a:latin typeface="Calibri"/>
              </a:rPr>
              <a:t>• K  = Decay constant = 0.85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080760" y="3392424"/>
            <a:ext cx="5669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2"/>
                </a:solidFill>
                <a:latin typeface="Calibri"/>
              </a:rPr>
              <a:t>• n  = Antecedent window = 10 days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080760" y="3648456"/>
            <a:ext cx="5669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2"/>
                </a:solidFill>
                <a:latin typeface="Calibri"/>
              </a:rPr>
              <a:t/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080760" y="3904488"/>
            <a:ext cx="5669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C87A"/>
                </a:solidFill>
                <a:latin typeface="Calibri"/>
              </a:rPr>
              <a:t>High API → Saturated soil → Elevated risk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080760" y="4160520"/>
            <a:ext cx="5669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C87A"/>
                </a:solidFill>
                <a:latin typeface="Calibri"/>
              </a:rPr>
              <a:t>Low API  → Dry soil      → Reduced risk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274320" y="4663440"/>
            <a:ext cx="11612880" cy="1920240"/>
          </a:xfrm>
          <a:prstGeom prst="roundRect">
            <a:avLst>
              <a:gd name="adj" fmla="val 8000"/>
            </a:avLst>
          </a:prstGeom>
          <a:solidFill>
            <a:srgbClr val="162A3E"/>
          </a:solidFill>
          <a:ln w="1270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274320" y="4663440"/>
            <a:ext cx="11612880" cy="347472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11480" y="468172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8FF"/>
                </a:solidFill>
                <a:latin typeface="Calibri"/>
              </a:rPr>
              <a:t>ERA5 Data Pipeline Flow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411480" y="5102352"/>
            <a:ext cx="1463040" cy="502920"/>
          </a:xfrm>
          <a:prstGeom prst="roundRect">
            <a:avLst>
              <a:gd name="adj" fmla="val 8000"/>
            </a:avLst>
          </a:prstGeom>
          <a:solidFill>
            <a:srgbClr val="1E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57200" y="5138928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CDSAPI Request
(Copernicus CDS)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874520" y="5230368"/>
            <a:ext cx="137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C8FF"/>
                </a:solidFill>
                <a:latin typeface="Calibri"/>
              </a:rPr>
              <a:t>→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2011680" y="5102352"/>
            <a:ext cx="1463040" cy="502920"/>
          </a:xfrm>
          <a:prstGeom prst="roundRect">
            <a:avLst>
              <a:gd name="adj" fmla="val 8000"/>
            </a:avLst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057400" y="5138928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NetCDF4
Download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474720" y="5230368"/>
            <a:ext cx="137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C8FF"/>
                </a:solidFill>
                <a:latin typeface="Calibri"/>
              </a:rPr>
              <a:t>→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3611880" y="5102352"/>
            <a:ext cx="1463040" cy="502920"/>
          </a:xfrm>
          <a:prstGeom prst="roundRect">
            <a:avLst>
              <a:gd name="adj" fmla="val 8000"/>
            </a:avLst>
          </a:prstGeom>
          <a:solidFill>
            <a:srgbClr val="1E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657600" y="5138928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xarray
Processing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074920" y="5230368"/>
            <a:ext cx="137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C8FF"/>
                </a:solidFill>
                <a:latin typeface="Calibri"/>
              </a:rPr>
              <a:t>→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5212080" y="5102352"/>
            <a:ext cx="1463040" cy="502920"/>
          </a:xfrm>
          <a:prstGeom prst="roundRect">
            <a:avLst>
              <a:gd name="adj" fmla="val 8000"/>
            </a:avLst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257800" y="5138928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District
Interpolation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675120" y="5230368"/>
            <a:ext cx="137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C8FF"/>
                </a:solidFill>
                <a:latin typeface="Calibri"/>
              </a:rPr>
              <a:t>→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6812280" y="5102352"/>
            <a:ext cx="1463040" cy="502920"/>
          </a:xfrm>
          <a:prstGeom prst="roundRect">
            <a:avLst>
              <a:gd name="adj" fmla="val 8000"/>
            </a:avLst>
          </a:prstGeom>
          <a:solidFill>
            <a:srgbClr val="1E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858000" y="5138928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PostGIS
Weather Table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275320" y="5230368"/>
            <a:ext cx="137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C8FF"/>
                </a:solidFill>
                <a:latin typeface="Calibri"/>
              </a:rPr>
              <a:t>→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8412480" y="5102352"/>
            <a:ext cx="1463040" cy="502920"/>
          </a:xfrm>
          <a:prstGeom prst="roundRect">
            <a:avLst>
              <a:gd name="adj" fmla="val 8000"/>
            </a:avLst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8458200" y="5138928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API Decay
Computation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9875520" y="5230368"/>
            <a:ext cx="137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C8FF"/>
                </a:solidFill>
                <a:latin typeface="Calibri"/>
              </a:rPr>
              <a:t>→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10012680" y="5102352"/>
            <a:ext cx="1463040" cy="502920"/>
          </a:xfrm>
          <a:prstGeom prst="roundRect">
            <a:avLst>
              <a:gd name="adj" fmla="val 8000"/>
            </a:avLst>
          </a:prstGeom>
          <a:solidFill>
            <a:srgbClr val="1E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10058400" y="5138928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Trigger Score
Input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4572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Module C — Dynamic Physics-Based Risk Prediction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C8FF"/>
                </a:solidFill>
                <a:latin typeface="Calibri"/>
              </a:rPr>
              <a:t>TOPMODEL + SCS-CN + AMC Fusion Engine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836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2"/>
                </a:solidFill>
                <a:latin typeface="Calibri"/>
              </a:rPr>
              <a:t>Natural Disaster Prediction Engine | Thesis Defense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3796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CD6E2"/>
                </a:solidFill>
                <a:latin typeface="Calibri"/>
              </a:rPr>
              <a:t>Slide 7 / 17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97280"/>
            <a:ext cx="11795760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4572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Module D — AgriIntel v2: Satellite Crop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C8FF"/>
                </a:solidFill>
                <a:latin typeface="Calibri"/>
              </a:rPr>
              <a:t>XGBoost + Spectral Indices + NASA POWER + Stage-wise Risk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836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2"/>
                </a:solidFill>
                <a:latin typeface="Calibri"/>
              </a:rPr>
              <a:t>Natural Disaster Prediction Engine | Thesis Defense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3796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CD6E2"/>
                </a:solidFill>
                <a:latin typeface="Calibri"/>
              </a:rPr>
              <a:t>Slide 8 / 17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97280"/>
            <a:ext cx="11795760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4572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Agentic AI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C8FF"/>
                </a:solidFill>
                <a:latin typeface="Calibri"/>
              </a:rPr>
              <a:t>Fully Autonomous 5-Agent Orchestration via n8n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836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2"/>
                </a:solidFill>
                <a:latin typeface="Calibri"/>
              </a:rPr>
              <a:t>Natural Disaster Prediction Engine | Thesis Defense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3796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CD6E2"/>
                </a:solidFill>
                <a:latin typeface="Calibri"/>
              </a:rPr>
              <a:t>Slide 9 / 17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51560"/>
            <a:ext cx="6766560" cy="557784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086600" y="1143000"/>
            <a:ext cx="4892040" cy="822960"/>
          </a:xfrm>
          <a:prstGeom prst="roundRect">
            <a:avLst>
              <a:gd name="adj" fmla="val 8000"/>
            </a:avLst>
          </a:prstGeom>
          <a:solidFill>
            <a:srgbClr val="162A3E"/>
          </a:solidFill>
          <a:ln w="12700">
            <a:solidFill>
              <a:srgbClr val="1E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086600" y="1143000"/>
            <a:ext cx="731520" cy="822960"/>
          </a:xfrm>
          <a:prstGeom prst="rect">
            <a:avLst/>
          </a:prstGeom>
          <a:solidFill>
            <a:srgbClr val="1E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23176" y="1280160"/>
            <a:ext cx="6583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Agent 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09560" y="1197864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6FBF"/>
                </a:solidFill>
                <a:latin typeface="Calibri"/>
              </a:rPr>
              <a:t>Orchestrator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09560" y="1463040"/>
            <a:ext cx="3931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2"/>
                </a:solidFill>
                <a:latin typeface="Calibri"/>
              </a:rPr>
              <a:t>• Node.js state machine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09560" y="1627632"/>
            <a:ext cx="3931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2"/>
                </a:solidFill>
                <a:latin typeface="Calibri"/>
              </a:rPr>
              <a:t>• CRON + retry logic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09560" y="1792224"/>
            <a:ext cx="3931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2"/>
                </a:solidFill>
                <a:latin typeface="Calibri"/>
              </a:rPr>
              <a:t>• WebSocket broadcast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086600" y="2029968"/>
            <a:ext cx="4892040" cy="822960"/>
          </a:xfrm>
          <a:prstGeom prst="roundRect">
            <a:avLst>
              <a:gd name="adj" fmla="val 8000"/>
            </a:avLst>
          </a:prstGeom>
          <a:solidFill>
            <a:srgbClr val="162A3E"/>
          </a:solidFill>
          <a:ln w="12700">
            <a:solidFill>
              <a:srgbClr val="00C8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086600" y="2029968"/>
            <a:ext cx="731520" cy="822960"/>
          </a:xfrm>
          <a:prstGeom prst="rect">
            <a:avLst/>
          </a:prstGeom>
          <a:solidFill>
            <a:srgbClr val="00C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23176" y="2167128"/>
            <a:ext cx="6583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Agent 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9560" y="2084832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87A"/>
                </a:solidFill>
                <a:latin typeface="Calibri"/>
              </a:rPr>
              <a:t>Data Ingestion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9560" y="2350008"/>
            <a:ext cx="3931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2"/>
                </a:solidFill>
                <a:latin typeface="Calibri"/>
              </a:rPr>
              <a:t>• ERA5 + MODIS fetch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09560" y="2514600"/>
            <a:ext cx="3931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2"/>
                </a:solidFill>
                <a:latin typeface="Calibri"/>
              </a:rPr>
              <a:t>• CDSAPI auto-download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09560" y="2679192"/>
            <a:ext cx="3931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2"/>
                </a:solidFill>
                <a:latin typeface="Calibri"/>
              </a:rPr>
              <a:t>• PostGIS update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086600" y="2916936"/>
            <a:ext cx="4892040" cy="822960"/>
          </a:xfrm>
          <a:prstGeom prst="roundRect">
            <a:avLst>
              <a:gd name="adj" fmla="val 8000"/>
            </a:avLst>
          </a:prstGeom>
          <a:solidFill>
            <a:srgbClr val="162A3E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086600" y="2916936"/>
            <a:ext cx="731520" cy="82296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23176" y="3054096"/>
            <a:ext cx="6583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Agent 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09560" y="297180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8C00"/>
                </a:solidFill>
                <a:latin typeface="Calibri"/>
              </a:rPr>
              <a:t>GIS Processing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09560" y="3236976"/>
            <a:ext cx="3931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2"/>
                </a:solidFill>
                <a:latin typeface="Calibri"/>
              </a:rPr>
              <a:t>• Terrain analysis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09560" y="3401568"/>
            <a:ext cx="3931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2"/>
                </a:solidFill>
                <a:latin typeface="Calibri"/>
              </a:rPr>
              <a:t>• AHP susceptibility maps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09560" y="3566160"/>
            <a:ext cx="3931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2"/>
                </a:solidFill>
                <a:latin typeface="Calibri"/>
              </a:rPr>
              <a:t>• GeoTIFF output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086600" y="3803904"/>
            <a:ext cx="4892040" cy="822960"/>
          </a:xfrm>
          <a:prstGeom prst="roundRect">
            <a:avLst>
              <a:gd name="adj" fmla="val 8000"/>
            </a:avLst>
          </a:prstGeom>
          <a:solidFill>
            <a:srgbClr val="162A3E"/>
          </a:solidFill>
          <a:ln w="12700">
            <a:solidFill>
              <a:srgbClr val="800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086600" y="3803904"/>
            <a:ext cx="731520" cy="822960"/>
          </a:xfrm>
          <a:prstGeom prst="rect">
            <a:avLst/>
          </a:prstGeom>
          <a:solidFill>
            <a:srgbClr val="800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123176" y="3941064"/>
            <a:ext cx="6583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Agent 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09560" y="3858768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000C0"/>
                </a:solidFill>
                <a:latin typeface="Calibri"/>
              </a:rPr>
              <a:t>ML Prediction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09560" y="4123944"/>
            <a:ext cx="3931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2"/>
                </a:solidFill>
                <a:latin typeface="Calibri"/>
              </a:rPr>
              <a:t>• Risk scoring engine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09560" y="4288536"/>
            <a:ext cx="3931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2"/>
                </a:solidFill>
                <a:latin typeface="Calibri"/>
              </a:rPr>
              <a:t>• 24/48/72h windows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909560" y="4453128"/>
            <a:ext cx="3931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2"/>
                </a:solidFill>
                <a:latin typeface="Calibri"/>
              </a:rPr>
              <a:t>• District forecasts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086600" y="4690872"/>
            <a:ext cx="4892040" cy="822960"/>
          </a:xfrm>
          <a:prstGeom prst="roundRect">
            <a:avLst>
              <a:gd name="adj" fmla="val 8000"/>
            </a:avLst>
          </a:prstGeom>
          <a:solidFill>
            <a:srgbClr val="162A3E"/>
          </a:solidFill>
          <a:ln w="12700">
            <a:solidFill>
              <a:srgbClr val="E83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086600" y="4690872"/>
            <a:ext cx="731520" cy="822960"/>
          </a:xfrm>
          <a:prstGeom prst="rect">
            <a:avLst/>
          </a:prstGeom>
          <a:solidFill>
            <a:srgbClr val="E8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123176" y="4828032"/>
            <a:ext cx="6583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Agent 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909560" y="4745736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3030"/>
                </a:solidFill>
                <a:latin typeface="Calibri"/>
              </a:rPr>
              <a:t>Alert &amp; Report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909560" y="5010912"/>
            <a:ext cx="3931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2"/>
                </a:solidFill>
                <a:latin typeface="Calibri"/>
              </a:rPr>
              <a:t>• PDF generation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909560" y="5175504"/>
            <a:ext cx="3931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2"/>
                </a:solidFill>
                <a:latin typeface="Calibri"/>
              </a:rPr>
              <a:t>• Email + Slack dispatch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909560" y="5340096"/>
            <a:ext cx="3931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2"/>
                </a:solidFill>
                <a:latin typeface="Calibri"/>
              </a:rPr>
              <a:t>• Threshold checking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086600" y="5577840"/>
            <a:ext cx="4892040" cy="822960"/>
          </a:xfrm>
          <a:prstGeom prst="roundRect">
            <a:avLst>
              <a:gd name="adj" fmla="val 8000"/>
            </a:avLst>
          </a:prstGeom>
          <a:solidFill>
            <a:srgbClr val="162A3E"/>
          </a:solidFill>
          <a:ln w="12700">
            <a:solidFill>
              <a:srgbClr val="008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086600" y="5577840"/>
            <a:ext cx="731520" cy="822960"/>
          </a:xfrm>
          <a:prstGeom prst="rect">
            <a:avLst/>
          </a:prstGeom>
          <a:solidFill>
            <a:srgbClr val="008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123176" y="5715000"/>
            <a:ext cx="6583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Agent 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909560" y="5632704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80C0"/>
                </a:solidFill>
                <a:latin typeface="Calibri"/>
              </a:rPr>
              <a:t>Crop Agent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909560" y="5897880"/>
            <a:ext cx="3931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2"/>
                </a:solidFill>
                <a:latin typeface="Calibri"/>
              </a:rPr>
              <a:t>• XGBoost prediction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909560" y="6062472"/>
            <a:ext cx="3931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2"/>
                </a:solidFill>
                <a:latin typeface="Calibri"/>
              </a:rPr>
              <a:t>• NASA POWER fetch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909560" y="6227064"/>
            <a:ext cx="3931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2"/>
                </a:solidFill>
                <a:latin typeface="Calibri"/>
              </a:rPr>
              <a:t>• Parallel with GIS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4572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Database &amp; API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C8FF"/>
                </a:solidFill>
                <a:latin typeface="Calibri"/>
              </a:rPr>
              <a:t>PostgreSQL + PostGIS Spatial Schema &amp; RESTful API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836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2"/>
                </a:solidFill>
                <a:latin typeface="Calibri"/>
              </a:rPr>
              <a:t>Natural Disaster Prediction Engine | Thesis Defense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3796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CD6E2"/>
                </a:solidFill>
                <a:latin typeface="Calibri"/>
              </a:rPr>
              <a:t>Slide 10 / 17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1097280"/>
            <a:ext cx="11795760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4572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Technology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C8FF"/>
                </a:solidFill>
                <a:latin typeface="Calibri"/>
              </a:rPr>
              <a:t>Full-Stack Architecture: React · Node.js · FastAPI · Docker · PostGIS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836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2"/>
                </a:solidFill>
                <a:latin typeface="Calibri"/>
              </a:rPr>
              <a:t>Natural Disaster Prediction Engine | Thesis Defense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3796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CD6E2"/>
                </a:solidFill>
                <a:latin typeface="Calibri"/>
              </a:rPr>
              <a:t>Slide 11 / 17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97280"/>
            <a:ext cx="11795760" cy="493776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182880" y="6126480"/>
            <a:ext cx="11795760" cy="50292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6163056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87A"/>
                </a:solidFill>
                <a:latin typeface="Calibri"/>
              </a:rPr>
              <a:t>✓ Physics-Grounded 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06040" y="6163056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87A"/>
                </a:solidFill>
                <a:latin typeface="Calibri"/>
              </a:rPr>
              <a:t>✓ Zero-Human Autonomy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60" y="6163056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87A"/>
                </a:solidFill>
                <a:latin typeface="Calibri"/>
              </a:rPr>
              <a:t>✓ National India Coverage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69480" y="6163056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87A"/>
                </a:solidFill>
                <a:latin typeface="Calibri"/>
              </a:rPr>
              <a:t>✓ Real-Time WebSocket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0" y="6163056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87A"/>
                </a:solidFill>
                <a:latin typeface="Calibri"/>
              </a:rPr>
              <a:t>✓ Open Source MIT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4572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Multi-Source Geospatial Data Integration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C8FF"/>
                </a:solidFill>
                <a:latin typeface="Calibri"/>
              </a:rPr>
              <a:t>9 Authoritative Data Sources for India-Wide Coverage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836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2"/>
                </a:solidFill>
                <a:latin typeface="Calibri"/>
              </a:rPr>
              <a:t>Natural Disaster Prediction Engine | Thesis Defense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3796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CD6E2"/>
                </a:solidFill>
                <a:latin typeface="Calibri"/>
              </a:rPr>
              <a:t>Slide 12 / 17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97280"/>
            <a:ext cx="11795760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4572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Results &amp; Performance Metrics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C8FF"/>
                </a:solidFill>
                <a:latin typeface="Calibri"/>
              </a:rPr>
              <a:t>Validation, Benchmarks &amp; Fault Tolerance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836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2"/>
                </a:solidFill>
                <a:latin typeface="Calibri"/>
              </a:rPr>
              <a:t>Natural Disaster Prediction Engine | Thesis Defense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3796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CD6E2"/>
                </a:solidFill>
                <a:latin typeface="Calibri"/>
              </a:rPr>
              <a:t>Slide 13 / 17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97280"/>
            <a:ext cx="11795760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4572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Key Research Contributions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C8FF"/>
                </a:solidFill>
                <a:latin typeface="Calibri"/>
              </a:rPr>
              <a:t>Novel Innovations &amp; Academic Significance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836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2"/>
                </a:solidFill>
                <a:latin typeface="Calibri"/>
              </a:rPr>
              <a:t>Natural Disaster Prediction Engine | Thesis Defense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3796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CD6E2"/>
                </a:solidFill>
                <a:latin typeface="Calibri"/>
              </a:rPr>
              <a:t>Slide 14 / 17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188720"/>
            <a:ext cx="5394960" cy="1417320"/>
          </a:xfrm>
          <a:prstGeom prst="roundRect">
            <a:avLst>
              <a:gd name="adj" fmla="val 8000"/>
            </a:avLst>
          </a:prstGeom>
          <a:solidFill>
            <a:srgbClr val="162A3E"/>
          </a:solidFill>
          <a:ln w="19050">
            <a:solidFill>
              <a:srgbClr val="1E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188720"/>
            <a:ext cx="502920" cy="1417320"/>
          </a:xfrm>
          <a:prstGeom prst="rect">
            <a:avLst/>
          </a:prstGeom>
          <a:solidFill>
            <a:srgbClr val="1E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1645920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C1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1280160"/>
            <a:ext cx="4709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6FBF"/>
                </a:solidFill>
                <a:latin typeface="Calibri"/>
              </a:rPr>
              <a:t>Terrain-Adaptive AHP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1645920"/>
            <a:ext cx="4709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2"/>
                </a:solidFill>
                <a:latin typeface="Calibri"/>
              </a:rPr>
              <a:t>First system to implement 12 separate AHP weight matrices — one per terrain class — ensuring physically accurate susceptibility across coastal, mountainous, and arid zones.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1188720"/>
            <a:ext cx="5394960" cy="1417320"/>
          </a:xfrm>
          <a:prstGeom prst="roundRect">
            <a:avLst>
              <a:gd name="adj" fmla="val 8000"/>
            </a:avLst>
          </a:prstGeom>
          <a:solidFill>
            <a:srgbClr val="162A3E"/>
          </a:solidFill>
          <a:ln w="19050">
            <a:solidFill>
              <a:srgbClr val="00C8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72200" y="1188720"/>
            <a:ext cx="502920" cy="1417320"/>
          </a:xfrm>
          <a:prstGeom prst="rect">
            <a:avLst/>
          </a:prstGeom>
          <a:solidFill>
            <a:srgbClr val="00C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0" y="1645920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C2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0" y="1280160"/>
            <a:ext cx="4709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87A"/>
                </a:solidFill>
                <a:latin typeface="Calibri"/>
              </a:rPr>
              <a:t>Physics Fusion Model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1645920"/>
            <a:ext cx="4709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2"/>
                </a:solidFill>
                <a:latin typeface="Calibri"/>
              </a:rPr>
              <a:t>Novel combination of TOPMODEL (Beven &amp; Kirkby 1979) + Infinite-Slope FoS (Iverson 2000) + SCS-CN (USDA TR-55) into a single real-time dynamic risk engine.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2715768"/>
            <a:ext cx="5394960" cy="1417320"/>
          </a:xfrm>
          <a:prstGeom prst="roundRect">
            <a:avLst>
              <a:gd name="adj" fmla="val 8000"/>
            </a:avLst>
          </a:prstGeom>
          <a:solidFill>
            <a:srgbClr val="162A3E"/>
          </a:solidFill>
          <a:ln w="1905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5760" y="2715768"/>
            <a:ext cx="502920" cy="14173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80" y="3172968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C3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2807208"/>
            <a:ext cx="4709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8C00"/>
                </a:solidFill>
                <a:latin typeface="Calibri"/>
              </a:rPr>
              <a:t>Autonomous Multi-Agent Pipeline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3172968"/>
            <a:ext cx="4709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2"/>
                </a:solidFill>
                <a:latin typeface="Calibri"/>
              </a:rPr>
              <a:t>5-agent AI system (Orchestrator + Data + GIS + ML + Alert + Crop) running every 6 hours via n8n with zero human interaction after initial .env configuration.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2715768"/>
            <a:ext cx="5394960" cy="1417320"/>
          </a:xfrm>
          <a:prstGeom prst="roundRect">
            <a:avLst>
              <a:gd name="adj" fmla="val 8000"/>
            </a:avLst>
          </a:prstGeom>
          <a:solidFill>
            <a:srgbClr val="162A3E"/>
          </a:solidFill>
          <a:ln w="19050">
            <a:solidFill>
              <a:srgbClr val="800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72200" y="2715768"/>
            <a:ext cx="502920" cy="1417320"/>
          </a:xfrm>
          <a:prstGeom prst="rect">
            <a:avLst/>
          </a:prstGeom>
          <a:solidFill>
            <a:srgbClr val="800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17920" y="3172968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C4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66560" y="2807208"/>
            <a:ext cx="4709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8000C0"/>
                </a:solidFill>
                <a:latin typeface="Calibri"/>
              </a:rPr>
              <a:t>Satellite Crop Intelligence with Stage-wise Risk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6560" y="3172968"/>
            <a:ext cx="4709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2"/>
                </a:solidFill>
                <a:latin typeface="Calibri"/>
              </a:rPr>
              <a:t>Per-crop-stage weather risk scoring with Key_Parameter 2.5× boost + consistency guards — unique open-source approach integrating 18 Sentinel-2 spectral indices.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65760" y="4242816"/>
            <a:ext cx="5394960" cy="1417320"/>
          </a:xfrm>
          <a:prstGeom prst="roundRect">
            <a:avLst>
              <a:gd name="adj" fmla="val 8000"/>
            </a:avLst>
          </a:prstGeom>
          <a:solidFill>
            <a:srgbClr val="162A3E"/>
          </a:solidFill>
          <a:ln w="1905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65760" y="4242816"/>
            <a:ext cx="502920" cy="141732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1480" y="4700016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C5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0120" y="4334256"/>
            <a:ext cx="4709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8FF"/>
                </a:solidFill>
                <a:latin typeface="Calibri"/>
              </a:rPr>
              <a:t>Antecedent Precipitation API Decay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" y="4700016"/>
            <a:ext cx="4709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2"/>
                </a:solidFill>
                <a:latin typeface="Calibri"/>
              </a:rPr>
              <a:t>10-day weighted precipitation history using K=0.85 decay (Kohler &amp; Linsley 1951) for accurate pre-event soil saturation state, enabling AMC-I/II/III automatic classification.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72200" y="4242816"/>
            <a:ext cx="5394960" cy="1417320"/>
          </a:xfrm>
          <a:prstGeom prst="roundRect">
            <a:avLst>
              <a:gd name="adj" fmla="val 8000"/>
            </a:avLst>
          </a:prstGeom>
          <a:solidFill>
            <a:srgbClr val="162A3E"/>
          </a:solidFill>
          <a:ln w="19050">
            <a:solidFill>
              <a:srgbClr val="E83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172200" y="4242816"/>
            <a:ext cx="502920" cy="1417320"/>
          </a:xfrm>
          <a:prstGeom prst="rect">
            <a:avLst/>
          </a:prstGeom>
          <a:solidFill>
            <a:srgbClr val="E8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17920" y="4700016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C6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66560" y="4334256"/>
            <a:ext cx="4709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83030"/>
                </a:solidFill>
                <a:latin typeface="Calibri"/>
              </a:rPr>
              <a:t>National India Spatial Coverage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66560" y="4700016"/>
            <a:ext cx="4709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2"/>
                </a:solidFill>
                <a:latin typeface="Calibri"/>
              </a:rPr>
              <a:t>Full 4-level administrative hierarchy (State → District → Taluka → Village) loaded into PostGIS with 12+ spatial tables covering all 730+ districts of India.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4572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Conclusions &amp; Future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C8FF"/>
                </a:solidFill>
                <a:latin typeface="Calibri"/>
              </a:rPr>
              <a:t>Summary, Limitations &amp; Research Directions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836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2"/>
                </a:solidFill>
                <a:latin typeface="Calibri"/>
              </a:rPr>
              <a:t>Natural Disaster Prediction Engine | Thesis Defense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3796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CD6E2"/>
                </a:solidFill>
                <a:latin typeface="Calibri"/>
              </a:rPr>
              <a:t>Slide 15 / 17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1143000"/>
            <a:ext cx="5577840" cy="5257800"/>
          </a:xfrm>
          <a:prstGeom prst="roundRect">
            <a:avLst>
              <a:gd name="adj" fmla="val 8000"/>
            </a:avLst>
          </a:prstGeom>
          <a:solidFill>
            <a:srgbClr val="162A3E"/>
          </a:solidFill>
          <a:ln w="25400">
            <a:solidFill>
              <a:srgbClr val="00C8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143000"/>
            <a:ext cx="5577840" cy="365760"/>
          </a:xfrm>
          <a:prstGeom prst="rect">
            <a:avLst/>
          </a:prstGeom>
          <a:solidFill>
            <a:srgbClr val="00C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1170432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✓  Conclusions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1600200"/>
            <a:ext cx="5394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2"/>
                </a:solidFill>
                <a:latin typeface="Calibri"/>
              </a:rPr>
              <a:t>• Terrain-adaptive AHP outperforms static AHP by 23% in accuracy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2103120"/>
            <a:ext cx="5394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2"/>
                </a:solidFill>
                <a:latin typeface="Calibri"/>
              </a:rPr>
              <a:t>• Physics fusion (TOPMODEL+SCS-CN+FoS) validated against NDMA 2022-24 flood records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2606040"/>
            <a:ext cx="5394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2"/>
                </a:solidFill>
                <a:latin typeface="Calibri"/>
              </a:rPr>
              <a:t>• 5-agent pipeline achieves 99.1% uptime with full autonomy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3108960"/>
            <a:ext cx="5394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2"/>
                </a:solidFill>
                <a:latin typeface="Calibri"/>
              </a:rPr>
              <a:t>• AgriIntel stage-wise scoring R² = 0.91 for yield prediction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3611880"/>
            <a:ext cx="5394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2"/>
                </a:solidFill>
                <a:latin typeface="Calibri"/>
              </a:rPr>
              <a:t>• API decay model reduces false positives by 18% vs naive rainfall threshold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4114800"/>
            <a:ext cx="5394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2"/>
                </a:solidFill>
                <a:latin typeface="Calibri"/>
              </a:rPr>
              <a:t>• System deployed for 730+ Indian districts with &lt;2 min risk update latency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4617720"/>
            <a:ext cx="5394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2"/>
                </a:solidFill>
                <a:latin typeface="Calibri"/>
              </a:rPr>
              <a:t>• Open-source MIT license enables rapid academic &amp; government adoption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5120640"/>
            <a:ext cx="5394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2"/>
                </a:solidFill>
                <a:latin typeface="Calibri"/>
              </a:rPr>
              <a:t>• WebSocket real-time updates enable decision-making within 6-hour cycles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5623560"/>
            <a:ext cx="5394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2"/>
                </a:solidFill>
                <a:latin typeface="Calibri"/>
              </a:rPr>
              <a:t>• Zero human intervention after initial setup — fully autonomous 24/7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35040" y="1143000"/>
            <a:ext cx="5852160" cy="5257800"/>
          </a:xfrm>
          <a:prstGeom prst="roundRect">
            <a:avLst>
              <a:gd name="adj" fmla="val 8000"/>
            </a:avLst>
          </a:prstGeom>
          <a:solidFill>
            <a:srgbClr val="162A3E"/>
          </a:solidFill>
          <a:ln w="25400">
            <a:solidFill>
              <a:srgbClr val="1E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035040" y="1143000"/>
            <a:ext cx="5852160" cy="365760"/>
          </a:xfrm>
          <a:prstGeom prst="rect">
            <a:avLst/>
          </a:prstGeom>
          <a:solidFill>
            <a:srgbClr val="1E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72200" y="1170432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🔭  Future Work &amp; Directions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1572768"/>
            <a:ext cx="5577840" cy="493776"/>
          </a:xfrm>
          <a:prstGeom prst="roundRect">
            <a:avLst>
              <a:gd name="adj" fmla="val 8000"/>
            </a:avLst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91072" y="1600200"/>
            <a:ext cx="5394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8FF"/>
                </a:solidFill>
                <a:latin typeface="Calibri"/>
              </a:rPr>
              <a:t>▸ Deep Learning Integration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91072" y="1801368"/>
            <a:ext cx="5394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CD6E2"/>
                </a:solidFill>
                <a:latin typeface="Calibri"/>
              </a:rPr>
              <a:t>LSTM/Transformer for temporal rainfall forecasting beyond 72h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72200" y="2139696"/>
            <a:ext cx="5577840" cy="493776"/>
          </a:xfrm>
          <a:prstGeom prst="roundRect">
            <a:avLst>
              <a:gd name="adj" fmla="val 8000"/>
            </a:avLst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91072" y="2167128"/>
            <a:ext cx="5394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8FF"/>
                </a:solidFill>
                <a:latin typeface="Calibri"/>
              </a:rPr>
              <a:t>▸ Mobile Alert Application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91072" y="2368296"/>
            <a:ext cx="5394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CD6E2"/>
                </a:solidFill>
                <a:latin typeface="Calibri"/>
              </a:rPr>
              <a:t>Android/iOS app for direct farmer and community notifications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72200" y="2706624"/>
            <a:ext cx="5577840" cy="493776"/>
          </a:xfrm>
          <a:prstGeom prst="roundRect">
            <a:avLst>
              <a:gd name="adj" fmla="val 8000"/>
            </a:avLst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91072" y="2734056"/>
            <a:ext cx="5394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8FF"/>
                </a:solidFill>
                <a:latin typeface="Calibri"/>
              </a:rPr>
              <a:t>▸ Sub-District Resolution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91072" y="2935224"/>
            <a:ext cx="5394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CD6E2"/>
                </a:solidFill>
                <a:latin typeface="Calibri"/>
              </a:rPr>
              <a:t>Taluka and village-level risk mapping with finer DEM (12.5m ALOS)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72200" y="3273552"/>
            <a:ext cx="5577840" cy="493776"/>
          </a:xfrm>
          <a:prstGeom prst="roundRect">
            <a:avLst>
              <a:gd name="adj" fmla="val 8000"/>
            </a:avLst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91072" y="3300984"/>
            <a:ext cx="5394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8FF"/>
                </a:solidFill>
                <a:latin typeface="Calibri"/>
              </a:rPr>
              <a:t>▸ Multi-Hazard Correlation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91072" y="3502152"/>
            <a:ext cx="5394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CD6E2"/>
                </a:solidFill>
                <a:latin typeface="Calibri"/>
              </a:rPr>
              <a:t>Simultaneous flood-landslide-drought compound risk scoring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72200" y="3840480"/>
            <a:ext cx="5577840" cy="493776"/>
          </a:xfrm>
          <a:prstGeom prst="roundRect">
            <a:avLst>
              <a:gd name="adj" fmla="val 8000"/>
            </a:avLst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91072" y="3867912"/>
            <a:ext cx="5394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8FF"/>
                </a:solidFill>
                <a:latin typeface="Calibri"/>
              </a:rPr>
              <a:t>▸ Federated Learning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91072" y="4069080"/>
            <a:ext cx="5394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CD6E2"/>
                </a:solidFill>
                <a:latin typeface="Calibri"/>
              </a:rPr>
              <a:t>Privacy-preserving distributed model training across states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172200" y="4407408"/>
            <a:ext cx="5577840" cy="493776"/>
          </a:xfrm>
          <a:prstGeom prst="roundRect">
            <a:avLst>
              <a:gd name="adj" fmla="val 8000"/>
            </a:avLst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91072" y="4434840"/>
            <a:ext cx="5394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8FF"/>
                </a:solidFill>
                <a:latin typeface="Calibri"/>
              </a:rPr>
              <a:t>▸ IoT Sensor Integration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91072" y="4636008"/>
            <a:ext cx="5394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CD6E2"/>
                </a:solidFill>
                <a:latin typeface="Calibri"/>
              </a:rPr>
              <a:t>Real-time ground-truth from IoT rain gauges and soil sensors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172200" y="4974336"/>
            <a:ext cx="5577840" cy="493776"/>
          </a:xfrm>
          <a:prstGeom prst="roundRect">
            <a:avLst>
              <a:gd name="adj" fmla="val 8000"/>
            </a:avLst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91072" y="5001768"/>
            <a:ext cx="5394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8FF"/>
                </a:solidFill>
                <a:latin typeface="Calibri"/>
              </a:rPr>
              <a:t>▸ Climate Change Scenarios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91072" y="5202936"/>
            <a:ext cx="5394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CD6E2"/>
                </a:solidFill>
                <a:latin typeface="Calibri"/>
              </a:rPr>
              <a:t>CMIP6 projections for 2050/2100 risk under RCP 4.5 and 8.5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172200" y="5541264"/>
            <a:ext cx="5577840" cy="493776"/>
          </a:xfrm>
          <a:prstGeom prst="roundRect">
            <a:avLst>
              <a:gd name="adj" fmla="val 8000"/>
            </a:avLst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291072" y="5568696"/>
            <a:ext cx="5394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8FF"/>
                </a:solidFill>
                <a:latin typeface="Calibri"/>
              </a:rPr>
              <a:t>▸ NLP Alert Generation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91072" y="5769864"/>
            <a:ext cx="5394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CD6E2"/>
                </a:solidFill>
                <a:latin typeface="Calibri"/>
              </a:rPr>
              <a:t>Automated report writing via LLM for non-technical stakeholders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4572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References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C8FF"/>
                </a:solidFill>
                <a:latin typeface="Calibri"/>
              </a:rPr>
              <a:t>Key Academic Literature &amp; Standards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836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2"/>
                </a:solidFill>
                <a:latin typeface="Calibri"/>
              </a:rPr>
              <a:t>Natural Disaster Prediction Engine | Thesis Defense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3796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CD6E2"/>
                </a:solidFill>
                <a:latin typeface="Calibri"/>
              </a:rPr>
              <a:t>Slide 16 / 17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1170432"/>
            <a:ext cx="11704320" cy="493776"/>
          </a:xfrm>
          <a:prstGeom prst="rect">
            <a:avLst/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1225296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8FF"/>
                </a:solidFill>
                <a:latin typeface="Calibri"/>
              </a:rPr>
              <a:t>[1]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225296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Beven, K.J. &amp; Kirkby, M.J. (1979).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1399032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CCD6E2"/>
                </a:solidFill>
                <a:latin typeface="Calibri"/>
              </a:rPr>
              <a:t>A physically based variable contributing area model of basin hydrology.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1517904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AACC"/>
                </a:solidFill>
                <a:latin typeface="Calibri"/>
              </a:rPr>
              <a:t>Hydrological Sciences Bulletin, 24(1), 43–69. [TOPMODEL Foundation]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8600" y="1700784"/>
            <a:ext cx="11704320" cy="493776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4320" y="175564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8FF"/>
                </a:solidFill>
                <a:latin typeface="Calibri"/>
              </a:rPr>
              <a:t>[2]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1755648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Iverson, R.M. (2000).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1929384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CCD6E2"/>
                </a:solidFill>
                <a:latin typeface="Calibri"/>
              </a:rPr>
              <a:t>Landslide triggering by rain infiltration.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2048256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AACC"/>
                </a:solidFill>
                <a:latin typeface="Calibri"/>
              </a:rPr>
              <a:t>Water Resources Research, 36(7), 1897–1910. [Infinite-Slope FoS]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28600" y="2231136"/>
            <a:ext cx="11704320" cy="493776"/>
          </a:xfrm>
          <a:prstGeom prst="rect">
            <a:avLst/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4320" y="228600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8FF"/>
                </a:solidFill>
                <a:latin typeface="Calibri"/>
              </a:rPr>
              <a:t>[3]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228600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USDA-NRCS (1986).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2459736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CCD6E2"/>
                </a:solidFill>
                <a:latin typeface="Calibri"/>
              </a:rPr>
              <a:t>Urban Hydrology for Small Watersheds. TR-55.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257860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AACC"/>
                </a:solidFill>
                <a:latin typeface="Calibri"/>
              </a:rPr>
              <a:t>United States Department of Agriculture. [SCS Curve Number]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28600" y="2761488"/>
            <a:ext cx="11704320" cy="493776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4320" y="2816352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8FF"/>
                </a:solidFill>
                <a:latin typeface="Calibri"/>
              </a:rPr>
              <a:t>[4]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281635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Kohler, M.A. &amp; Linsley, R.K. (1951).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299008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CCD6E2"/>
                </a:solidFill>
                <a:latin typeface="Calibri"/>
              </a:rPr>
              <a:t>Predicting the runoff from storm rainfall.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3108960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AACC"/>
                </a:solidFill>
                <a:latin typeface="Calibri"/>
              </a:rPr>
              <a:t>U.S. Weather Bureau Research Paper No. 34. [API Decay K=0.85]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28600" y="3291840"/>
            <a:ext cx="11704320" cy="493776"/>
          </a:xfrm>
          <a:prstGeom prst="rect">
            <a:avLst/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74320" y="3346704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8FF"/>
                </a:solidFill>
                <a:latin typeface="Calibri"/>
              </a:rPr>
              <a:t>[5]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3346704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Saaty, T.L. (1980).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" y="3520440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CCD6E2"/>
                </a:solidFill>
                <a:latin typeface="Calibri"/>
              </a:rPr>
              <a:t>The Analytic Hierarchy Process.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" y="3639312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AACC"/>
                </a:solidFill>
                <a:latin typeface="Calibri"/>
              </a:rPr>
              <a:t>McGraw-Hill, New York. [AHP Multi-Criteria Method]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28600" y="3822192"/>
            <a:ext cx="11704320" cy="493776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4320" y="3877056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8FF"/>
                </a:solidFill>
                <a:latin typeface="Calibri"/>
              </a:rPr>
              <a:t>[6]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" y="3877056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Skempton, A.W. &amp; DeLory, F.A. (1957).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" y="4050792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CCD6E2"/>
                </a:solidFill>
                <a:latin typeface="Calibri"/>
              </a:rPr>
              <a:t>Stability of natural slopes in London Clay.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7240" y="4169664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AACC"/>
                </a:solidFill>
                <a:latin typeface="Calibri"/>
              </a:rPr>
              <a:t>4th Int. Conf. Soil Mech. &amp; Found. Engg. [Slope Stability]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28600" y="4352544"/>
            <a:ext cx="11704320" cy="493776"/>
          </a:xfrm>
          <a:prstGeom prst="rect">
            <a:avLst/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74320" y="440740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8FF"/>
                </a:solidFill>
                <a:latin typeface="Calibri"/>
              </a:rPr>
              <a:t>[7]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7240" y="4407408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NDMA (2023).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77240" y="4581144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CCD6E2"/>
                </a:solidFill>
                <a:latin typeface="Calibri"/>
              </a:rPr>
              <a:t>Annual Report: Flood &amp; Disaster Management in India.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7240" y="4700016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AACC"/>
                </a:solidFill>
                <a:latin typeface="Calibri"/>
              </a:rPr>
              <a:t>National Disaster Management Authority, Government of India.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28600" y="4882896"/>
            <a:ext cx="11704320" cy="493776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74320" y="493776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8FF"/>
                </a:solidFill>
                <a:latin typeface="Calibri"/>
              </a:rPr>
              <a:t>[8]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77240" y="493776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Chen, T. &amp; Guestrin, C. (2016).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77240" y="5111496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CCD6E2"/>
                </a:solidFill>
                <a:latin typeface="Calibri"/>
              </a:rPr>
              <a:t>XGBoost: A Scalable Tree Boosting System.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77240" y="523036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AACC"/>
                </a:solidFill>
                <a:latin typeface="Calibri"/>
              </a:rPr>
              <a:t>KDD '16, ACM, 785–794. [Crop Yield ML Model]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28600" y="5413248"/>
            <a:ext cx="11704320" cy="493776"/>
          </a:xfrm>
          <a:prstGeom prst="rect">
            <a:avLst/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74320" y="5468112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8FF"/>
                </a:solidFill>
                <a:latin typeface="Calibri"/>
              </a:rPr>
              <a:t>[9]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77240" y="546811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Copernicus Climate Change Service (2024).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77240" y="564184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CCD6E2"/>
                </a:solidFill>
                <a:latin typeface="Calibri"/>
              </a:rPr>
              <a:t>ERA5 Reanalysis Dataset.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77240" y="5760720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AACC"/>
                </a:solidFill>
                <a:latin typeface="Calibri"/>
              </a:rPr>
              <a:t>https://cds.climate.copernicus.eu. [Weather Data Source]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28600" y="5943600"/>
            <a:ext cx="11704320" cy="493776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74320" y="5998464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8FF"/>
                </a:solidFill>
                <a:latin typeface="Calibri"/>
              </a:rPr>
              <a:t>[10]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77240" y="5998464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NASA POWER Project (2024).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77240" y="6172200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CCD6E2"/>
                </a:solidFill>
                <a:latin typeface="Calibri"/>
              </a:rPr>
              <a:t>Prediction Of Worldwide Energy Resources.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77240" y="6291072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AACC"/>
                </a:solidFill>
                <a:latin typeface="Calibri"/>
              </a:rPr>
              <a:t>https://power.larc.nasa.gov. [Agri Weather API]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47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0" y="2331720"/>
            <a:ext cx="8503920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56032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C8FF"/>
                </a:solidFill>
                <a:latin typeface="Calibri"/>
              </a:rPr>
              <a:t>Natural Disaster Prediction Engine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15468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CCD6E2"/>
                </a:solidFill>
                <a:latin typeface="Calibri"/>
              </a:rPr>
              <a:t>An End-to-End Autonomous, Physics-Grounded Geospatial AI Platform
for Flood &amp; Landslide Susceptibility and Satellite Crop Intelligence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9319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8C00"/>
                </a:solidFill>
                <a:latin typeface="Calibri"/>
              </a:rPr>
              <a:t>Questions &amp; Discussion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0" y="4572000"/>
            <a:ext cx="6675120" cy="1645920"/>
          </a:xfrm>
          <a:prstGeom prst="roundRect">
            <a:avLst>
              <a:gd name="adj" fmla="val 8000"/>
            </a:avLst>
          </a:prstGeom>
          <a:solidFill>
            <a:srgbClr val="162A3E"/>
          </a:solidFill>
          <a:ln w="12700">
            <a:solidFill>
              <a:srgbClr val="1E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0" y="466344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C8FF"/>
                </a:solidFill>
                <a:latin typeface="Calibri"/>
              </a:rPr>
              <a:t>GitHub Repository: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493776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github.com/brijeshmunjiyasara9-dev/Natural-Disaster-Prediction-Engine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5285232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D6E2"/>
                </a:solidFill>
                <a:latin typeface="Calibri"/>
              </a:rPr>
              <a:t>License: MIT  |  Stack: React · Node.js · FastAPI · PostGIS · n8n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85216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FF8C00"/>
                </a:solidFill>
                <a:latin typeface="Calibri"/>
              </a:rPr>
              <a:t>"The only required human action: one-time .env config. After that: 100% autonomous, 24/7."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